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7"/>
    <p:restoredTop sz="94693"/>
  </p:normalViewPr>
  <p:slideViewPr>
    <p:cSldViewPr snapToGrid="0" snapToObjects="1">
      <p:cViewPr varScale="1">
        <p:scale>
          <a:sx n="118" d="100"/>
          <a:sy n="118" d="100"/>
        </p:scale>
        <p:origin x="154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13DFD8-20E3-4B53-82F1-5011AB2E165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4F79C2-6369-443A-83BF-26C27222AA54}">
      <dgm:prSet/>
      <dgm:spPr/>
      <dgm:t>
        <a:bodyPr/>
        <a:lstStyle/>
        <a:p>
          <a:r>
            <a:rPr lang="en-US"/>
            <a:t>Objective:</a:t>
          </a:r>
        </a:p>
      </dgm:t>
    </dgm:pt>
    <dgm:pt modelId="{E323E15D-C4A3-4419-A106-30B99E930FDB}" type="parTrans" cxnId="{24B0EE27-C02B-4000-A13A-7C84929B7774}">
      <dgm:prSet/>
      <dgm:spPr/>
      <dgm:t>
        <a:bodyPr/>
        <a:lstStyle/>
        <a:p>
          <a:endParaRPr lang="en-US"/>
        </a:p>
      </dgm:t>
    </dgm:pt>
    <dgm:pt modelId="{734CA873-C63C-4FB2-8A52-7F37C37CD1F3}" type="sibTrans" cxnId="{24B0EE27-C02B-4000-A13A-7C84929B7774}">
      <dgm:prSet/>
      <dgm:spPr/>
      <dgm:t>
        <a:bodyPr/>
        <a:lstStyle/>
        <a:p>
          <a:endParaRPr lang="en-US"/>
        </a:p>
      </dgm:t>
    </dgm:pt>
    <dgm:pt modelId="{A621143C-14C0-4878-94C4-66E501EC06D7}">
      <dgm:prSet/>
      <dgm:spPr/>
      <dgm:t>
        <a:bodyPr/>
        <a:lstStyle/>
        <a:p>
          <a:r>
            <a:rPr lang="en-US" dirty="0"/>
            <a:t> To design and develop an intelligent IoT-based system that uses AI and sensors to monitor and optimize water quality in hydroponic farming for sustainable agriculture.</a:t>
          </a:r>
        </a:p>
      </dgm:t>
    </dgm:pt>
    <dgm:pt modelId="{0381F05E-1253-48A9-A914-E122D7588E1F}" type="parTrans" cxnId="{94671EDB-215F-4CEA-B885-7B885F13076A}">
      <dgm:prSet/>
      <dgm:spPr/>
      <dgm:t>
        <a:bodyPr/>
        <a:lstStyle/>
        <a:p>
          <a:endParaRPr lang="en-US"/>
        </a:p>
      </dgm:t>
    </dgm:pt>
    <dgm:pt modelId="{94C69572-3C8C-4D90-8082-38E6C266F187}" type="sibTrans" cxnId="{94671EDB-215F-4CEA-B885-7B885F13076A}">
      <dgm:prSet/>
      <dgm:spPr/>
      <dgm:t>
        <a:bodyPr/>
        <a:lstStyle/>
        <a:p>
          <a:endParaRPr lang="en-US"/>
        </a:p>
      </dgm:t>
    </dgm:pt>
    <dgm:pt modelId="{797F0C43-2549-46E8-BCF3-2E2DF0B5E992}">
      <dgm:prSet/>
      <dgm:spPr/>
      <dgm:t>
        <a:bodyPr/>
        <a:lstStyle/>
        <a:p>
          <a:r>
            <a:rPr lang="en-US"/>
            <a:t>Focus:</a:t>
          </a:r>
        </a:p>
      </dgm:t>
    </dgm:pt>
    <dgm:pt modelId="{B77BA2FF-9FC0-43EC-AB0E-793A25FCBBC0}" type="parTrans" cxnId="{04953DA1-9590-4943-980E-97AD822A35F5}">
      <dgm:prSet/>
      <dgm:spPr/>
      <dgm:t>
        <a:bodyPr/>
        <a:lstStyle/>
        <a:p>
          <a:endParaRPr lang="en-US"/>
        </a:p>
      </dgm:t>
    </dgm:pt>
    <dgm:pt modelId="{2C29E491-1C44-4A5D-B12E-A23806A165E4}" type="sibTrans" cxnId="{04953DA1-9590-4943-980E-97AD822A35F5}">
      <dgm:prSet/>
      <dgm:spPr/>
      <dgm:t>
        <a:bodyPr/>
        <a:lstStyle/>
        <a:p>
          <a:endParaRPr lang="en-US"/>
        </a:p>
      </dgm:t>
    </dgm:pt>
    <dgm:pt modelId="{C801EC9B-5C82-4DDF-9C9A-FC0629DDD893}">
      <dgm:prSet/>
      <dgm:spPr/>
      <dgm:t>
        <a:bodyPr/>
        <a:lstStyle/>
        <a:p>
          <a:r>
            <a:rPr lang="en-US" dirty="0"/>
            <a:t> Monitor water parameters (EC, pH, temperature, dissolved oxygen).</a:t>
          </a:r>
        </a:p>
      </dgm:t>
    </dgm:pt>
    <dgm:pt modelId="{68983001-28B8-4D84-B843-EE4FA319FCA6}" type="parTrans" cxnId="{78670DDF-C200-40A3-9044-3B440BD56594}">
      <dgm:prSet/>
      <dgm:spPr/>
      <dgm:t>
        <a:bodyPr/>
        <a:lstStyle/>
        <a:p>
          <a:endParaRPr lang="en-US"/>
        </a:p>
      </dgm:t>
    </dgm:pt>
    <dgm:pt modelId="{6132C033-6DE3-41F2-B09E-37CCF3A00FB5}" type="sibTrans" cxnId="{78670DDF-C200-40A3-9044-3B440BD56594}">
      <dgm:prSet/>
      <dgm:spPr/>
      <dgm:t>
        <a:bodyPr/>
        <a:lstStyle/>
        <a:p>
          <a:endParaRPr lang="en-US"/>
        </a:p>
      </dgm:t>
    </dgm:pt>
    <dgm:pt modelId="{9990026B-1A58-4533-8976-77645892EB51}">
      <dgm:prSet/>
      <dgm:spPr/>
      <dgm:t>
        <a:bodyPr/>
        <a:lstStyle/>
        <a:p>
          <a:r>
            <a:rPr lang="en-US" dirty="0"/>
            <a:t> Use predictive analytics for optimization.</a:t>
          </a:r>
        </a:p>
      </dgm:t>
    </dgm:pt>
    <dgm:pt modelId="{E5F05F97-3609-4891-AD9F-946EB485A614}" type="parTrans" cxnId="{B8B402E6-CCFE-42BC-8DCD-5C2A5FAFACBF}">
      <dgm:prSet/>
      <dgm:spPr/>
      <dgm:t>
        <a:bodyPr/>
        <a:lstStyle/>
        <a:p>
          <a:endParaRPr lang="en-US"/>
        </a:p>
      </dgm:t>
    </dgm:pt>
    <dgm:pt modelId="{33DB8F0E-0757-4392-8832-04CD0FB99B93}" type="sibTrans" cxnId="{B8B402E6-CCFE-42BC-8DCD-5C2A5FAFACBF}">
      <dgm:prSet/>
      <dgm:spPr/>
      <dgm:t>
        <a:bodyPr/>
        <a:lstStyle/>
        <a:p>
          <a:endParaRPr lang="en-US"/>
        </a:p>
      </dgm:t>
    </dgm:pt>
    <dgm:pt modelId="{4A791B78-D54A-431F-B993-EDBEAACC404B}">
      <dgm:prSet/>
      <dgm:spPr/>
      <dgm:t>
        <a:bodyPr/>
        <a:lstStyle/>
        <a:p>
          <a:r>
            <a:rPr lang="en-US" dirty="0"/>
            <a:t> Evaluate financial, ecological, and technical impact.</a:t>
          </a:r>
        </a:p>
      </dgm:t>
    </dgm:pt>
    <dgm:pt modelId="{A6427EE2-A8CE-4860-9751-494863B08F0D}" type="parTrans" cxnId="{F29E1988-FE01-41E2-B461-30D564D7AFC2}">
      <dgm:prSet/>
      <dgm:spPr/>
      <dgm:t>
        <a:bodyPr/>
        <a:lstStyle/>
        <a:p>
          <a:endParaRPr lang="en-US"/>
        </a:p>
      </dgm:t>
    </dgm:pt>
    <dgm:pt modelId="{975CA201-E2C6-4207-851F-11DF61560E7D}" type="sibTrans" cxnId="{F29E1988-FE01-41E2-B461-30D564D7AFC2}">
      <dgm:prSet/>
      <dgm:spPr/>
      <dgm:t>
        <a:bodyPr/>
        <a:lstStyle/>
        <a:p>
          <a:endParaRPr lang="en-US"/>
        </a:p>
      </dgm:t>
    </dgm:pt>
    <dgm:pt modelId="{A468A0ED-6116-4DB4-8D80-C30FDA505EC3}">
      <dgm:prSet/>
      <dgm:spPr/>
      <dgm:t>
        <a:bodyPr/>
        <a:lstStyle/>
        <a:p>
          <a:r>
            <a:rPr lang="en-US"/>
            <a:t>Main Question:</a:t>
          </a:r>
        </a:p>
      </dgm:t>
    </dgm:pt>
    <dgm:pt modelId="{3B36487E-DC19-466B-8C5E-B33F23A95D77}" type="parTrans" cxnId="{04EF0EB9-8B5A-4502-B5BB-3E56C3FC6AE1}">
      <dgm:prSet/>
      <dgm:spPr/>
      <dgm:t>
        <a:bodyPr/>
        <a:lstStyle/>
        <a:p>
          <a:endParaRPr lang="en-US"/>
        </a:p>
      </dgm:t>
    </dgm:pt>
    <dgm:pt modelId="{E3607185-5573-4B0E-85DE-12E762A6DB5F}" type="sibTrans" cxnId="{04EF0EB9-8B5A-4502-B5BB-3E56C3FC6AE1}">
      <dgm:prSet/>
      <dgm:spPr/>
      <dgm:t>
        <a:bodyPr/>
        <a:lstStyle/>
        <a:p>
          <a:endParaRPr lang="en-US"/>
        </a:p>
      </dgm:t>
    </dgm:pt>
    <dgm:pt modelId="{EFB3B503-56D2-4386-A60D-94FD5B57A45C}">
      <dgm:prSet/>
      <dgm:spPr/>
      <dgm:t>
        <a:bodyPr/>
        <a:lstStyle/>
        <a:p>
          <a:r>
            <a:rPr lang="en-US" i="1" dirty="0"/>
            <a:t> How can AI be applied to optimize hydroponic farming by combining IoT-based monitoring of water parameters with predictive analytics for sustainable resource management?</a:t>
          </a:r>
          <a:endParaRPr lang="en-US" dirty="0"/>
        </a:p>
      </dgm:t>
    </dgm:pt>
    <dgm:pt modelId="{BEBA328C-D191-41DE-9C4A-F08055FF255F}" type="parTrans" cxnId="{DC0EF17B-3AEF-4F3B-B254-7467289137F7}">
      <dgm:prSet/>
      <dgm:spPr/>
      <dgm:t>
        <a:bodyPr/>
        <a:lstStyle/>
        <a:p>
          <a:endParaRPr lang="en-US"/>
        </a:p>
      </dgm:t>
    </dgm:pt>
    <dgm:pt modelId="{A0E40F0A-D69D-4B97-B200-D70B622E5C69}" type="sibTrans" cxnId="{DC0EF17B-3AEF-4F3B-B254-7467289137F7}">
      <dgm:prSet/>
      <dgm:spPr/>
      <dgm:t>
        <a:bodyPr/>
        <a:lstStyle/>
        <a:p>
          <a:endParaRPr lang="en-US"/>
        </a:p>
      </dgm:t>
    </dgm:pt>
    <dgm:pt modelId="{3D198783-8B6F-C343-9F80-B7CA703C3BCF}" type="pres">
      <dgm:prSet presAssocID="{2D13DFD8-20E3-4B53-82F1-5011AB2E1651}" presName="Name0" presStyleCnt="0">
        <dgm:presLayoutVars>
          <dgm:dir/>
          <dgm:animLvl val="lvl"/>
          <dgm:resizeHandles val="exact"/>
        </dgm:presLayoutVars>
      </dgm:prSet>
      <dgm:spPr/>
    </dgm:pt>
    <dgm:pt modelId="{40097C21-F496-3341-94BA-511ADBB6EEED}" type="pres">
      <dgm:prSet presAssocID="{F24F79C2-6369-443A-83BF-26C27222AA54}" presName="linNode" presStyleCnt="0"/>
      <dgm:spPr/>
    </dgm:pt>
    <dgm:pt modelId="{A54DA601-7B1C-BE41-887E-607E739CD405}" type="pres">
      <dgm:prSet presAssocID="{F24F79C2-6369-443A-83BF-26C27222AA5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2B6B606A-F07C-B141-998A-39538F842DE0}" type="pres">
      <dgm:prSet presAssocID="{F24F79C2-6369-443A-83BF-26C27222AA54}" presName="descendantText" presStyleLbl="alignAccFollowNode1" presStyleIdx="0" presStyleCnt="3">
        <dgm:presLayoutVars>
          <dgm:bulletEnabled val="1"/>
        </dgm:presLayoutVars>
      </dgm:prSet>
      <dgm:spPr/>
    </dgm:pt>
    <dgm:pt modelId="{AE15CD1B-B002-FB42-92EA-7FB62556BCD0}" type="pres">
      <dgm:prSet presAssocID="{734CA873-C63C-4FB2-8A52-7F37C37CD1F3}" presName="sp" presStyleCnt="0"/>
      <dgm:spPr/>
    </dgm:pt>
    <dgm:pt modelId="{4661D7D3-035A-6244-8F75-464096CEE0FC}" type="pres">
      <dgm:prSet presAssocID="{797F0C43-2549-46E8-BCF3-2E2DF0B5E992}" presName="linNode" presStyleCnt="0"/>
      <dgm:spPr/>
    </dgm:pt>
    <dgm:pt modelId="{8FBA06A0-B634-314C-99C1-F00B05999506}" type="pres">
      <dgm:prSet presAssocID="{797F0C43-2549-46E8-BCF3-2E2DF0B5E992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CD4D6AB-295A-F047-B18B-470346653F6F}" type="pres">
      <dgm:prSet presAssocID="{797F0C43-2549-46E8-BCF3-2E2DF0B5E992}" presName="descendantText" presStyleLbl="alignAccFollowNode1" presStyleIdx="1" presStyleCnt="3">
        <dgm:presLayoutVars>
          <dgm:bulletEnabled val="1"/>
        </dgm:presLayoutVars>
      </dgm:prSet>
      <dgm:spPr/>
    </dgm:pt>
    <dgm:pt modelId="{BBCDE369-8BCA-9347-8234-4391695A772B}" type="pres">
      <dgm:prSet presAssocID="{2C29E491-1C44-4A5D-B12E-A23806A165E4}" presName="sp" presStyleCnt="0"/>
      <dgm:spPr/>
    </dgm:pt>
    <dgm:pt modelId="{C43A43F6-E26C-8E4F-AC6F-A749865BACB9}" type="pres">
      <dgm:prSet presAssocID="{A468A0ED-6116-4DB4-8D80-C30FDA505EC3}" presName="linNode" presStyleCnt="0"/>
      <dgm:spPr/>
    </dgm:pt>
    <dgm:pt modelId="{023C7DC7-D98A-0C4E-BDD6-40C741CD5A61}" type="pres">
      <dgm:prSet presAssocID="{A468A0ED-6116-4DB4-8D80-C30FDA505EC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EBAF375-C80B-414D-9997-DA68BD35F37A}" type="pres">
      <dgm:prSet presAssocID="{A468A0ED-6116-4DB4-8D80-C30FDA505EC3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72B2710-1C29-964A-B9C8-B1C6B63B0033}" type="presOf" srcId="{2D13DFD8-20E3-4B53-82F1-5011AB2E1651}" destId="{3D198783-8B6F-C343-9F80-B7CA703C3BCF}" srcOrd="0" destOrd="0" presId="urn:microsoft.com/office/officeart/2005/8/layout/vList5"/>
    <dgm:cxn modelId="{24B0EE27-C02B-4000-A13A-7C84929B7774}" srcId="{2D13DFD8-20E3-4B53-82F1-5011AB2E1651}" destId="{F24F79C2-6369-443A-83BF-26C27222AA54}" srcOrd="0" destOrd="0" parTransId="{E323E15D-C4A3-4419-A106-30B99E930FDB}" sibTransId="{734CA873-C63C-4FB2-8A52-7F37C37CD1F3}"/>
    <dgm:cxn modelId="{42D9FF3A-0079-A248-A3BB-A21F65E511F7}" type="presOf" srcId="{EFB3B503-56D2-4386-A60D-94FD5B57A45C}" destId="{9EBAF375-C80B-414D-9997-DA68BD35F37A}" srcOrd="0" destOrd="0" presId="urn:microsoft.com/office/officeart/2005/8/layout/vList5"/>
    <dgm:cxn modelId="{05E78555-C64C-8C49-8A9C-26BF49344702}" type="presOf" srcId="{F24F79C2-6369-443A-83BF-26C27222AA54}" destId="{A54DA601-7B1C-BE41-887E-607E739CD405}" srcOrd="0" destOrd="0" presId="urn:microsoft.com/office/officeart/2005/8/layout/vList5"/>
    <dgm:cxn modelId="{A6A3CC7A-5588-144F-82C0-76293F06A914}" type="presOf" srcId="{A621143C-14C0-4878-94C4-66E501EC06D7}" destId="{2B6B606A-F07C-B141-998A-39538F842DE0}" srcOrd="0" destOrd="0" presId="urn:microsoft.com/office/officeart/2005/8/layout/vList5"/>
    <dgm:cxn modelId="{DC0EF17B-3AEF-4F3B-B254-7467289137F7}" srcId="{A468A0ED-6116-4DB4-8D80-C30FDA505EC3}" destId="{EFB3B503-56D2-4386-A60D-94FD5B57A45C}" srcOrd="0" destOrd="0" parTransId="{BEBA328C-D191-41DE-9C4A-F08055FF255F}" sibTransId="{A0E40F0A-D69D-4B97-B200-D70B622E5C69}"/>
    <dgm:cxn modelId="{F29E1988-FE01-41E2-B461-30D564D7AFC2}" srcId="{797F0C43-2549-46E8-BCF3-2E2DF0B5E992}" destId="{4A791B78-D54A-431F-B993-EDBEAACC404B}" srcOrd="2" destOrd="0" parTransId="{A6427EE2-A8CE-4860-9751-494863B08F0D}" sibTransId="{975CA201-E2C6-4207-851F-11DF61560E7D}"/>
    <dgm:cxn modelId="{86ACD3A0-67C6-BC42-B05D-9D0D27DD3E2A}" type="presOf" srcId="{4A791B78-D54A-431F-B993-EDBEAACC404B}" destId="{5CD4D6AB-295A-F047-B18B-470346653F6F}" srcOrd="0" destOrd="2" presId="urn:microsoft.com/office/officeart/2005/8/layout/vList5"/>
    <dgm:cxn modelId="{04953DA1-9590-4943-980E-97AD822A35F5}" srcId="{2D13DFD8-20E3-4B53-82F1-5011AB2E1651}" destId="{797F0C43-2549-46E8-BCF3-2E2DF0B5E992}" srcOrd="1" destOrd="0" parTransId="{B77BA2FF-9FC0-43EC-AB0E-793A25FCBBC0}" sibTransId="{2C29E491-1C44-4A5D-B12E-A23806A165E4}"/>
    <dgm:cxn modelId="{6E0E04B1-C66A-BE46-985F-B81740C0F3E1}" type="presOf" srcId="{9990026B-1A58-4533-8976-77645892EB51}" destId="{5CD4D6AB-295A-F047-B18B-470346653F6F}" srcOrd="0" destOrd="1" presId="urn:microsoft.com/office/officeart/2005/8/layout/vList5"/>
    <dgm:cxn modelId="{04EF0EB9-8B5A-4502-B5BB-3E56C3FC6AE1}" srcId="{2D13DFD8-20E3-4B53-82F1-5011AB2E1651}" destId="{A468A0ED-6116-4DB4-8D80-C30FDA505EC3}" srcOrd="2" destOrd="0" parTransId="{3B36487E-DC19-466B-8C5E-B33F23A95D77}" sibTransId="{E3607185-5573-4B0E-85DE-12E762A6DB5F}"/>
    <dgm:cxn modelId="{94671EDB-215F-4CEA-B885-7B885F13076A}" srcId="{F24F79C2-6369-443A-83BF-26C27222AA54}" destId="{A621143C-14C0-4878-94C4-66E501EC06D7}" srcOrd="0" destOrd="0" parTransId="{0381F05E-1253-48A9-A914-E122D7588E1F}" sibTransId="{94C69572-3C8C-4D90-8082-38E6C266F187}"/>
    <dgm:cxn modelId="{78670DDF-C200-40A3-9044-3B440BD56594}" srcId="{797F0C43-2549-46E8-BCF3-2E2DF0B5E992}" destId="{C801EC9B-5C82-4DDF-9C9A-FC0629DDD893}" srcOrd="0" destOrd="0" parTransId="{68983001-28B8-4D84-B843-EE4FA319FCA6}" sibTransId="{6132C033-6DE3-41F2-B09E-37CCF3A00FB5}"/>
    <dgm:cxn modelId="{B8B402E6-CCFE-42BC-8DCD-5C2A5FAFACBF}" srcId="{797F0C43-2549-46E8-BCF3-2E2DF0B5E992}" destId="{9990026B-1A58-4533-8976-77645892EB51}" srcOrd="1" destOrd="0" parTransId="{E5F05F97-3609-4891-AD9F-946EB485A614}" sibTransId="{33DB8F0E-0757-4392-8832-04CD0FB99B93}"/>
    <dgm:cxn modelId="{3331F0EB-26BC-4D4E-90EC-0B7EF97C8227}" type="presOf" srcId="{A468A0ED-6116-4DB4-8D80-C30FDA505EC3}" destId="{023C7DC7-D98A-0C4E-BDD6-40C741CD5A61}" srcOrd="0" destOrd="0" presId="urn:microsoft.com/office/officeart/2005/8/layout/vList5"/>
    <dgm:cxn modelId="{871F72EE-B9D2-714F-84AC-BD2B7FD4F146}" type="presOf" srcId="{797F0C43-2549-46E8-BCF3-2E2DF0B5E992}" destId="{8FBA06A0-B634-314C-99C1-F00B05999506}" srcOrd="0" destOrd="0" presId="urn:microsoft.com/office/officeart/2005/8/layout/vList5"/>
    <dgm:cxn modelId="{0336FDEE-73E2-634B-AA5B-2272FBE57D77}" type="presOf" srcId="{C801EC9B-5C82-4DDF-9C9A-FC0629DDD893}" destId="{5CD4D6AB-295A-F047-B18B-470346653F6F}" srcOrd="0" destOrd="0" presId="urn:microsoft.com/office/officeart/2005/8/layout/vList5"/>
    <dgm:cxn modelId="{454DC4FF-077F-1940-AEE4-31BBEAC5C500}" type="presParOf" srcId="{3D198783-8B6F-C343-9F80-B7CA703C3BCF}" destId="{40097C21-F496-3341-94BA-511ADBB6EEED}" srcOrd="0" destOrd="0" presId="urn:microsoft.com/office/officeart/2005/8/layout/vList5"/>
    <dgm:cxn modelId="{FEAE7E8C-2512-8548-BA9C-7F970B5A6A8A}" type="presParOf" srcId="{40097C21-F496-3341-94BA-511ADBB6EEED}" destId="{A54DA601-7B1C-BE41-887E-607E739CD405}" srcOrd="0" destOrd="0" presId="urn:microsoft.com/office/officeart/2005/8/layout/vList5"/>
    <dgm:cxn modelId="{FFDC0FD2-2999-2648-B7C9-ACA479DAED2B}" type="presParOf" srcId="{40097C21-F496-3341-94BA-511ADBB6EEED}" destId="{2B6B606A-F07C-B141-998A-39538F842DE0}" srcOrd="1" destOrd="0" presId="urn:microsoft.com/office/officeart/2005/8/layout/vList5"/>
    <dgm:cxn modelId="{A54E4736-ADE2-3445-ACE8-2928A7C22031}" type="presParOf" srcId="{3D198783-8B6F-C343-9F80-B7CA703C3BCF}" destId="{AE15CD1B-B002-FB42-92EA-7FB62556BCD0}" srcOrd="1" destOrd="0" presId="urn:microsoft.com/office/officeart/2005/8/layout/vList5"/>
    <dgm:cxn modelId="{D1F4A560-1C07-1E4D-BE38-137FBB6BAAE0}" type="presParOf" srcId="{3D198783-8B6F-C343-9F80-B7CA703C3BCF}" destId="{4661D7D3-035A-6244-8F75-464096CEE0FC}" srcOrd="2" destOrd="0" presId="urn:microsoft.com/office/officeart/2005/8/layout/vList5"/>
    <dgm:cxn modelId="{07697E3D-F819-F64D-BE61-FF37D019E308}" type="presParOf" srcId="{4661D7D3-035A-6244-8F75-464096CEE0FC}" destId="{8FBA06A0-B634-314C-99C1-F00B05999506}" srcOrd="0" destOrd="0" presId="urn:microsoft.com/office/officeart/2005/8/layout/vList5"/>
    <dgm:cxn modelId="{09AA95FE-3A21-F745-A930-250E1BBDF137}" type="presParOf" srcId="{4661D7D3-035A-6244-8F75-464096CEE0FC}" destId="{5CD4D6AB-295A-F047-B18B-470346653F6F}" srcOrd="1" destOrd="0" presId="urn:microsoft.com/office/officeart/2005/8/layout/vList5"/>
    <dgm:cxn modelId="{AACCFFA7-2FC9-9E43-A5FF-280A8F5B65AB}" type="presParOf" srcId="{3D198783-8B6F-C343-9F80-B7CA703C3BCF}" destId="{BBCDE369-8BCA-9347-8234-4391695A772B}" srcOrd="3" destOrd="0" presId="urn:microsoft.com/office/officeart/2005/8/layout/vList5"/>
    <dgm:cxn modelId="{8E110E9A-E6BA-C74F-B62D-4E913FAD1E81}" type="presParOf" srcId="{3D198783-8B6F-C343-9F80-B7CA703C3BCF}" destId="{C43A43F6-E26C-8E4F-AC6F-A749865BACB9}" srcOrd="4" destOrd="0" presId="urn:microsoft.com/office/officeart/2005/8/layout/vList5"/>
    <dgm:cxn modelId="{7D9591C3-E9B8-5A43-A30C-BA84D6F3AD6C}" type="presParOf" srcId="{C43A43F6-E26C-8E4F-AC6F-A749865BACB9}" destId="{023C7DC7-D98A-0C4E-BDD6-40C741CD5A61}" srcOrd="0" destOrd="0" presId="urn:microsoft.com/office/officeart/2005/8/layout/vList5"/>
    <dgm:cxn modelId="{AB61A26C-354E-954E-9DF6-A4600D81DE30}" type="presParOf" srcId="{C43A43F6-E26C-8E4F-AC6F-A749865BACB9}" destId="{9EBAF375-C80B-414D-9997-DA68BD35F37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CB2E77-201B-4CB3-92AE-49B21C4DF06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7B8EE45-EFB7-4511-A6C5-1700DA86BF9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Agriculture consumes vast water and nutrient resources.</a:t>
          </a:r>
          <a:endParaRPr lang="en-US" dirty="0"/>
        </a:p>
      </dgm:t>
    </dgm:pt>
    <dgm:pt modelId="{C8CF7DE6-BA0E-4245-A317-5979303C6F37}" type="parTrans" cxnId="{FC490E3E-7BED-4E87-B0FC-43E754971DAE}">
      <dgm:prSet/>
      <dgm:spPr/>
      <dgm:t>
        <a:bodyPr/>
        <a:lstStyle/>
        <a:p>
          <a:endParaRPr lang="en-US"/>
        </a:p>
      </dgm:t>
    </dgm:pt>
    <dgm:pt modelId="{1321667F-6B62-46D3-B262-BC935A691E96}" type="sibTrans" cxnId="{FC490E3E-7BED-4E87-B0FC-43E754971DAE}">
      <dgm:prSet/>
      <dgm:spPr/>
      <dgm:t>
        <a:bodyPr/>
        <a:lstStyle/>
        <a:p>
          <a:endParaRPr lang="en-US"/>
        </a:p>
      </dgm:t>
    </dgm:pt>
    <dgm:pt modelId="{44C6FA83-BDCD-4B68-B3A9-38AD28FDCC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Hydroponics offers a sustainable alternative but requires precise water management.</a:t>
          </a:r>
          <a:endParaRPr lang="en-US"/>
        </a:p>
      </dgm:t>
    </dgm:pt>
    <dgm:pt modelId="{C7818530-8179-4120-8C1F-3399054F7D56}" type="parTrans" cxnId="{5A84555E-A61E-4C36-8EC3-CB322B0E5206}">
      <dgm:prSet/>
      <dgm:spPr/>
      <dgm:t>
        <a:bodyPr/>
        <a:lstStyle/>
        <a:p>
          <a:endParaRPr lang="en-US"/>
        </a:p>
      </dgm:t>
    </dgm:pt>
    <dgm:pt modelId="{6F7A9031-BFFD-41A9-9CBA-35A95C4C136A}" type="sibTrans" cxnId="{5A84555E-A61E-4C36-8EC3-CB322B0E5206}">
      <dgm:prSet/>
      <dgm:spPr/>
      <dgm:t>
        <a:bodyPr/>
        <a:lstStyle/>
        <a:p>
          <a:endParaRPr lang="en-US"/>
        </a:p>
      </dgm:t>
    </dgm:pt>
    <dgm:pt modelId="{2019DF01-D414-4A28-AFE9-D10EC1583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Current monitoring methods are often manual and costly.</a:t>
          </a:r>
          <a:endParaRPr lang="en-US"/>
        </a:p>
      </dgm:t>
    </dgm:pt>
    <dgm:pt modelId="{40744F2A-70CC-4126-BBAC-F661FE72693F}" type="parTrans" cxnId="{133270E2-E27E-492D-852A-5305FC950571}">
      <dgm:prSet/>
      <dgm:spPr/>
      <dgm:t>
        <a:bodyPr/>
        <a:lstStyle/>
        <a:p>
          <a:endParaRPr lang="en-US"/>
        </a:p>
      </dgm:t>
    </dgm:pt>
    <dgm:pt modelId="{E926EB7F-46BE-4BD3-AAAA-BE374E6AD86F}" type="sibTrans" cxnId="{133270E2-E27E-492D-852A-5305FC950571}">
      <dgm:prSet/>
      <dgm:spPr/>
      <dgm:t>
        <a:bodyPr/>
        <a:lstStyle/>
        <a:p>
          <a:endParaRPr lang="en-US"/>
        </a:p>
      </dgm:t>
    </dgm:pt>
    <dgm:pt modelId="{AAFB7B5F-BA4C-4A8B-BCC1-EA616B801A0E}" type="pres">
      <dgm:prSet presAssocID="{D8CB2E77-201B-4CB3-92AE-49B21C4DF061}" presName="root" presStyleCnt="0">
        <dgm:presLayoutVars>
          <dgm:dir/>
          <dgm:resizeHandles val="exact"/>
        </dgm:presLayoutVars>
      </dgm:prSet>
      <dgm:spPr/>
    </dgm:pt>
    <dgm:pt modelId="{EFC9973A-5F7A-4315-87BC-651B7471EA22}" type="pres">
      <dgm:prSet presAssocID="{97B8EE45-EFB7-4511-A6C5-1700DA86BF9E}" presName="compNode" presStyleCnt="0"/>
      <dgm:spPr/>
    </dgm:pt>
    <dgm:pt modelId="{E1A94672-C84A-4BA7-94A2-190AFC4B0680}" type="pres">
      <dgm:prSet presAssocID="{97B8EE45-EFB7-4511-A6C5-1700DA86BF9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54DD7288-5B8B-4873-BDBE-8AF086092994}" type="pres">
      <dgm:prSet presAssocID="{97B8EE45-EFB7-4511-A6C5-1700DA86BF9E}" presName="spaceRect" presStyleCnt="0"/>
      <dgm:spPr/>
    </dgm:pt>
    <dgm:pt modelId="{40F053B2-0537-42EE-A11B-26CF8244CAAC}" type="pres">
      <dgm:prSet presAssocID="{97B8EE45-EFB7-4511-A6C5-1700DA86BF9E}" presName="textRect" presStyleLbl="revTx" presStyleIdx="0" presStyleCnt="3">
        <dgm:presLayoutVars>
          <dgm:chMax val="1"/>
          <dgm:chPref val="1"/>
        </dgm:presLayoutVars>
      </dgm:prSet>
      <dgm:spPr/>
    </dgm:pt>
    <dgm:pt modelId="{49FB0674-5786-4496-A294-225EAE9D373D}" type="pres">
      <dgm:prSet presAssocID="{1321667F-6B62-46D3-B262-BC935A691E96}" presName="sibTrans" presStyleCnt="0"/>
      <dgm:spPr/>
    </dgm:pt>
    <dgm:pt modelId="{C5E8D070-012B-4D0E-B0EE-74DA81FDF98E}" type="pres">
      <dgm:prSet presAssocID="{44C6FA83-BDCD-4B68-B3A9-38AD28FDCC1E}" presName="compNode" presStyleCnt="0"/>
      <dgm:spPr/>
    </dgm:pt>
    <dgm:pt modelId="{74CDB422-222E-48BC-B713-990391F1542A}" type="pres">
      <dgm:prSet presAssocID="{44C6FA83-BDCD-4B68-B3A9-38AD28FDCC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394E9531-48F7-4EBD-9316-47344B7DFA2A}" type="pres">
      <dgm:prSet presAssocID="{44C6FA83-BDCD-4B68-B3A9-38AD28FDCC1E}" presName="spaceRect" presStyleCnt="0"/>
      <dgm:spPr/>
    </dgm:pt>
    <dgm:pt modelId="{A244CC84-7654-436C-91F5-E94240C440AB}" type="pres">
      <dgm:prSet presAssocID="{44C6FA83-BDCD-4B68-B3A9-38AD28FDCC1E}" presName="textRect" presStyleLbl="revTx" presStyleIdx="1" presStyleCnt="3">
        <dgm:presLayoutVars>
          <dgm:chMax val="1"/>
          <dgm:chPref val="1"/>
        </dgm:presLayoutVars>
      </dgm:prSet>
      <dgm:spPr/>
    </dgm:pt>
    <dgm:pt modelId="{79F65BA1-48B7-47B1-85BF-68BDF713CD0F}" type="pres">
      <dgm:prSet presAssocID="{6F7A9031-BFFD-41A9-9CBA-35A95C4C136A}" presName="sibTrans" presStyleCnt="0"/>
      <dgm:spPr/>
    </dgm:pt>
    <dgm:pt modelId="{B33CF028-ACBC-43B2-9780-912ECB3298F8}" type="pres">
      <dgm:prSet presAssocID="{2019DF01-D414-4A28-AFE9-D10EC15832A5}" presName="compNode" presStyleCnt="0"/>
      <dgm:spPr/>
    </dgm:pt>
    <dgm:pt modelId="{D1CB9D67-B83D-474E-82BA-9DF2CC46E5DE}" type="pres">
      <dgm:prSet presAssocID="{2019DF01-D414-4A28-AFE9-D10EC15832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C0B4340D-E05C-4AE6-BC5E-58CA955CCEAB}" type="pres">
      <dgm:prSet presAssocID="{2019DF01-D414-4A28-AFE9-D10EC15832A5}" presName="spaceRect" presStyleCnt="0"/>
      <dgm:spPr/>
    </dgm:pt>
    <dgm:pt modelId="{2338B41B-1EFD-47C8-AB9B-EC5AD4CDFAEB}" type="pres">
      <dgm:prSet presAssocID="{2019DF01-D414-4A28-AFE9-D10EC15832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A529E2A-1A14-9E48-9DA4-E4F400F49052}" type="presOf" srcId="{44C6FA83-BDCD-4B68-B3A9-38AD28FDCC1E}" destId="{A244CC84-7654-436C-91F5-E94240C440AB}" srcOrd="0" destOrd="0" presId="urn:microsoft.com/office/officeart/2018/2/layout/IconLabelList"/>
    <dgm:cxn modelId="{FC490E3E-7BED-4E87-B0FC-43E754971DAE}" srcId="{D8CB2E77-201B-4CB3-92AE-49B21C4DF061}" destId="{97B8EE45-EFB7-4511-A6C5-1700DA86BF9E}" srcOrd="0" destOrd="0" parTransId="{C8CF7DE6-BA0E-4245-A317-5979303C6F37}" sibTransId="{1321667F-6B62-46D3-B262-BC935A691E96}"/>
    <dgm:cxn modelId="{6C3F2355-36FC-5242-905B-AF7CF76189B2}" type="presOf" srcId="{D8CB2E77-201B-4CB3-92AE-49B21C4DF061}" destId="{AAFB7B5F-BA4C-4A8B-BCC1-EA616B801A0E}" srcOrd="0" destOrd="0" presId="urn:microsoft.com/office/officeart/2018/2/layout/IconLabelList"/>
    <dgm:cxn modelId="{5A84555E-A61E-4C36-8EC3-CB322B0E5206}" srcId="{D8CB2E77-201B-4CB3-92AE-49B21C4DF061}" destId="{44C6FA83-BDCD-4B68-B3A9-38AD28FDCC1E}" srcOrd="1" destOrd="0" parTransId="{C7818530-8179-4120-8C1F-3399054F7D56}" sibTransId="{6F7A9031-BFFD-41A9-9CBA-35A95C4C136A}"/>
    <dgm:cxn modelId="{B0C64172-EA30-424B-A4E3-7A907E4C6256}" type="presOf" srcId="{2019DF01-D414-4A28-AFE9-D10EC15832A5}" destId="{2338B41B-1EFD-47C8-AB9B-EC5AD4CDFAEB}" srcOrd="0" destOrd="0" presId="urn:microsoft.com/office/officeart/2018/2/layout/IconLabelList"/>
    <dgm:cxn modelId="{133270E2-E27E-492D-852A-5305FC950571}" srcId="{D8CB2E77-201B-4CB3-92AE-49B21C4DF061}" destId="{2019DF01-D414-4A28-AFE9-D10EC15832A5}" srcOrd="2" destOrd="0" parTransId="{40744F2A-70CC-4126-BBAC-F661FE72693F}" sibTransId="{E926EB7F-46BE-4BD3-AAAA-BE374E6AD86F}"/>
    <dgm:cxn modelId="{C59B41F2-CDB5-B249-8D4E-FED44266AD29}" type="presOf" srcId="{97B8EE45-EFB7-4511-A6C5-1700DA86BF9E}" destId="{40F053B2-0537-42EE-A11B-26CF8244CAAC}" srcOrd="0" destOrd="0" presId="urn:microsoft.com/office/officeart/2018/2/layout/IconLabelList"/>
    <dgm:cxn modelId="{97556E12-29CE-9249-BF08-FCD25BF3C225}" type="presParOf" srcId="{AAFB7B5F-BA4C-4A8B-BCC1-EA616B801A0E}" destId="{EFC9973A-5F7A-4315-87BC-651B7471EA22}" srcOrd="0" destOrd="0" presId="urn:microsoft.com/office/officeart/2018/2/layout/IconLabelList"/>
    <dgm:cxn modelId="{3CB61A9D-C964-B645-8234-A9474C1B0C58}" type="presParOf" srcId="{EFC9973A-5F7A-4315-87BC-651B7471EA22}" destId="{E1A94672-C84A-4BA7-94A2-190AFC4B0680}" srcOrd="0" destOrd="0" presId="urn:microsoft.com/office/officeart/2018/2/layout/IconLabelList"/>
    <dgm:cxn modelId="{706CB780-DDD1-E44B-93FD-2A71AEBB4B8A}" type="presParOf" srcId="{EFC9973A-5F7A-4315-87BC-651B7471EA22}" destId="{54DD7288-5B8B-4873-BDBE-8AF086092994}" srcOrd="1" destOrd="0" presId="urn:microsoft.com/office/officeart/2018/2/layout/IconLabelList"/>
    <dgm:cxn modelId="{F821F989-F7DF-C84B-B416-EFB39903E826}" type="presParOf" srcId="{EFC9973A-5F7A-4315-87BC-651B7471EA22}" destId="{40F053B2-0537-42EE-A11B-26CF8244CAAC}" srcOrd="2" destOrd="0" presId="urn:microsoft.com/office/officeart/2018/2/layout/IconLabelList"/>
    <dgm:cxn modelId="{6D44E8E9-C418-3644-AED1-E1422C24C213}" type="presParOf" srcId="{AAFB7B5F-BA4C-4A8B-BCC1-EA616B801A0E}" destId="{49FB0674-5786-4496-A294-225EAE9D373D}" srcOrd="1" destOrd="0" presId="urn:microsoft.com/office/officeart/2018/2/layout/IconLabelList"/>
    <dgm:cxn modelId="{63C96068-C9AE-3949-BEB4-27002FB347FA}" type="presParOf" srcId="{AAFB7B5F-BA4C-4A8B-BCC1-EA616B801A0E}" destId="{C5E8D070-012B-4D0E-B0EE-74DA81FDF98E}" srcOrd="2" destOrd="0" presId="urn:microsoft.com/office/officeart/2018/2/layout/IconLabelList"/>
    <dgm:cxn modelId="{618C5855-FAAA-5E42-8764-DCCF08609135}" type="presParOf" srcId="{C5E8D070-012B-4D0E-B0EE-74DA81FDF98E}" destId="{74CDB422-222E-48BC-B713-990391F1542A}" srcOrd="0" destOrd="0" presId="urn:microsoft.com/office/officeart/2018/2/layout/IconLabelList"/>
    <dgm:cxn modelId="{20C38693-6BBE-8F4D-9586-BCF7D70414B9}" type="presParOf" srcId="{C5E8D070-012B-4D0E-B0EE-74DA81FDF98E}" destId="{394E9531-48F7-4EBD-9316-47344B7DFA2A}" srcOrd="1" destOrd="0" presId="urn:microsoft.com/office/officeart/2018/2/layout/IconLabelList"/>
    <dgm:cxn modelId="{882EF828-C353-2B4F-967C-A5074E177293}" type="presParOf" srcId="{C5E8D070-012B-4D0E-B0EE-74DA81FDF98E}" destId="{A244CC84-7654-436C-91F5-E94240C440AB}" srcOrd="2" destOrd="0" presId="urn:microsoft.com/office/officeart/2018/2/layout/IconLabelList"/>
    <dgm:cxn modelId="{82617765-D073-F345-8A69-3BDDFAC13370}" type="presParOf" srcId="{AAFB7B5F-BA4C-4A8B-BCC1-EA616B801A0E}" destId="{79F65BA1-48B7-47B1-85BF-68BDF713CD0F}" srcOrd="3" destOrd="0" presId="urn:microsoft.com/office/officeart/2018/2/layout/IconLabelList"/>
    <dgm:cxn modelId="{EDE5B754-72CC-1847-9856-445556A6A565}" type="presParOf" srcId="{AAFB7B5F-BA4C-4A8B-BCC1-EA616B801A0E}" destId="{B33CF028-ACBC-43B2-9780-912ECB3298F8}" srcOrd="4" destOrd="0" presId="urn:microsoft.com/office/officeart/2018/2/layout/IconLabelList"/>
    <dgm:cxn modelId="{3452DC59-5950-754E-92D1-D6C8964816F4}" type="presParOf" srcId="{B33CF028-ACBC-43B2-9780-912ECB3298F8}" destId="{D1CB9D67-B83D-474E-82BA-9DF2CC46E5DE}" srcOrd="0" destOrd="0" presId="urn:microsoft.com/office/officeart/2018/2/layout/IconLabelList"/>
    <dgm:cxn modelId="{19ACF22F-7F23-9E4C-B835-0F47C98089D1}" type="presParOf" srcId="{B33CF028-ACBC-43B2-9780-912ECB3298F8}" destId="{C0B4340D-E05C-4AE6-BC5E-58CA955CCEAB}" srcOrd="1" destOrd="0" presId="urn:microsoft.com/office/officeart/2018/2/layout/IconLabelList"/>
    <dgm:cxn modelId="{0FAD2BD9-799A-824D-80B1-41F3786B83C4}" type="presParOf" srcId="{B33CF028-ACBC-43B2-9780-912ECB3298F8}" destId="{2338B41B-1EFD-47C8-AB9B-EC5AD4CDFA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B606A-F07C-B141-998A-39538F842DE0}">
      <dsp:nvSpPr>
        <dsp:cNvPr id="0" name=""/>
        <dsp:cNvSpPr/>
      </dsp:nvSpPr>
      <dsp:spPr>
        <a:xfrm rot="5400000">
          <a:off x="2234484" y="-670922"/>
          <a:ext cx="971910" cy="256041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 To design and develop an intelligent IoT-based system that uses AI and sensors to monitor and optimize water quality in hydroponic farming for sustainable agriculture.</a:t>
          </a:r>
        </a:p>
      </dsp:txBody>
      <dsp:txXfrm rot="-5400000">
        <a:off x="1440233" y="170774"/>
        <a:ext cx="2512969" cy="877020"/>
      </dsp:txXfrm>
    </dsp:sp>
    <dsp:sp modelId="{A54DA601-7B1C-BE41-887E-607E739CD405}">
      <dsp:nvSpPr>
        <dsp:cNvPr id="0" name=""/>
        <dsp:cNvSpPr/>
      </dsp:nvSpPr>
      <dsp:spPr>
        <a:xfrm>
          <a:off x="0" y="1840"/>
          <a:ext cx="1440232" cy="1214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Objective:</a:t>
          </a:r>
        </a:p>
      </dsp:txBody>
      <dsp:txXfrm>
        <a:off x="59306" y="61146"/>
        <a:ext cx="1321620" cy="1096276"/>
      </dsp:txXfrm>
    </dsp:sp>
    <dsp:sp modelId="{5CD4D6AB-295A-F047-B18B-470346653F6F}">
      <dsp:nvSpPr>
        <dsp:cNvPr id="0" name=""/>
        <dsp:cNvSpPr/>
      </dsp:nvSpPr>
      <dsp:spPr>
        <a:xfrm rot="5400000">
          <a:off x="2234484" y="604710"/>
          <a:ext cx="971910" cy="256041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 Monitor water parameters (EC, pH, temperature, dissolved oxygen).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 Use predictive analytics for optimization.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 Evaluate financial, ecological, and technical impact.</a:t>
          </a:r>
        </a:p>
      </dsp:txBody>
      <dsp:txXfrm rot="-5400000">
        <a:off x="1440233" y="1446407"/>
        <a:ext cx="2512969" cy="877020"/>
      </dsp:txXfrm>
    </dsp:sp>
    <dsp:sp modelId="{8FBA06A0-B634-314C-99C1-F00B05999506}">
      <dsp:nvSpPr>
        <dsp:cNvPr id="0" name=""/>
        <dsp:cNvSpPr/>
      </dsp:nvSpPr>
      <dsp:spPr>
        <a:xfrm>
          <a:off x="0" y="1277473"/>
          <a:ext cx="1440232" cy="1214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Focus:</a:t>
          </a:r>
        </a:p>
      </dsp:txBody>
      <dsp:txXfrm>
        <a:off x="59306" y="1336779"/>
        <a:ext cx="1321620" cy="1096276"/>
      </dsp:txXfrm>
    </dsp:sp>
    <dsp:sp modelId="{9EBAF375-C80B-414D-9997-DA68BD35F37A}">
      <dsp:nvSpPr>
        <dsp:cNvPr id="0" name=""/>
        <dsp:cNvSpPr/>
      </dsp:nvSpPr>
      <dsp:spPr>
        <a:xfrm rot="5400000">
          <a:off x="2234484" y="1880343"/>
          <a:ext cx="971910" cy="256041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i="1" kern="1200" dirty="0"/>
            <a:t> How can AI be applied to optimize hydroponic farming by combining IoT-based monitoring of water parameters with predictive analytics for sustainable resource management?</a:t>
          </a:r>
          <a:endParaRPr lang="en-US" sz="1100" kern="1200" dirty="0"/>
        </a:p>
      </dsp:txBody>
      <dsp:txXfrm rot="-5400000">
        <a:off x="1440233" y="2722040"/>
        <a:ext cx="2512969" cy="877020"/>
      </dsp:txXfrm>
    </dsp:sp>
    <dsp:sp modelId="{023C7DC7-D98A-0C4E-BDD6-40C741CD5A61}">
      <dsp:nvSpPr>
        <dsp:cNvPr id="0" name=""/>
        <dsp:cNvSpPr/>
      </dsp:nvSpPr>
      <dsp:spPr>
        <a:xfrm>
          <a:off x="0" y="2553106"/>
          <a:ext cx="1440232" cy="12148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Main Question:</a:t>
          </a:r>
        </a:p>
      </dsp:txBody>
      <dsp:txXfrm>
        <a:off x="59306" y="2612412"/>
        <a:ext cx="1321620" cy="1096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94672-C84A-4BA7-94A2-190AFC4B0680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F053B2-0537-42EE-A11B-26CF8244CAAC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 dirty="0"/>
            <a:t>Agriculture consumes vast water and nutrient resources.</a:t>
          </a:r>
          <a:endParaRPr lang="en-US" sz="1400" kern="1200" dirty="0"/>
        </a:p>
      </dsp:txBody>
      <dsp:txXfrm>
        <a:off x="78583" y="2435142"/>
        <a:ext cx="2399612" cy="720000"/>
      </dsp:txXfrm>
    </dsp:sp>
    <dsp:sp modelId="{74CDB422-222E-48BC-B713-990391F1542A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44CC84-7654-436C-91F5-E94240C440AB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Hydroponics offers a sustainable alternative but requires precise water management.</a:t>
          </a:r>
          <a:endParaRPr lang="en-US" sz="1400" kern="1200"/>
        </a:p>
      </dsp:txBody>
      <dsp:txXfrm>
        <a:off x="2898129" y="2435142"/>
        <a:ext cx="2399612" cy="720000"/>
      </dsp:txXfrm>
    </dsp:sp>
    <dsp:sp modelId="{D1CB9D67-B83D-474E-82BA-9DF2CC46E5DE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8B41B-1EFD-47C8-AB9B-EC5AD4CDFAEB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Current monitoring methods are often manual and costly.</a:t>
          </a:r>
          <a:endParaRPr lang="en-US" sz="1400" kern="1200"/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5116529"/>
            <a:ext cx="7944130" cy="100065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200" dirty="0">
                <a:solidFill>
                  <a:schemeClr val="tx2"/>
                </a:solidFill>
              </a:rPr>
              <a:t>AI Systems – Individual Study</a:t>
            </a:r>
          </a:p>
          <a:p>
            <a:pPr algn="l">
              <a:lnSpc>
                <a:spcPct val="90000"/>
              </a:lnSpc>
            </a:pPr>
            <a:r>
              <a:rPr lang="en-US" sz="3200" dirty="0">
                <a:solidFill>
                  <a:schemeClr val="tx2"/>
                </a:solidFill>
              </a:rPr>
              <a:t>Optimizing Hydroponic Farming with AI &amp; IoT</a:t>
            </a:r>
          </a:p>
        </p:txBody>
      </p:sp>
      <p:pic>
        <p:nvPicPr>
          <p:cNvPr id="5" name="Picture 4" descr="A long hallway with plants growing in it&#10;&#10;AI-generated content may be incorrect.">
            <a:extLst>
              <a:ext uri="{FF2B5EF4-FFF2-40B4-BE49-F238E27FC236}">
                <a16:creationId xmlns:a16="http://schemas.microsoft.com/office/drawing/2014/main" id="{F3F275BE-2A51-9D5F-A045-16DA21CA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78" b="5915"/>
          <a:stretch>
            <a:fillRect/>
          </a:stretch>
        </p:blipFill>
        <p:spPr>
          <a:xfrm>
            <a:off x="20" y="10"/>
            <a:ext cx="9143980" cy="420144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41813"/>
            <a:ext cx="9141713" cy="182880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4373542"/>
            <a:ext cx="7062673" cy="48437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chemeClr val="tx2"/>
                </a:solidFill>
              </a:rPr>
              <a:t>Student: Lindsay Cooper</a:t>
            </a:r>
          </a:p>
          <a:p>
            <a:pPr algn="l">
              <a:lnSpc>
                <a:spcPct val="90000"/>
              </a:lnSpc>
            </a:pPr>
            <a:r>
              <a:rPr lang="en-US" sz="1200" dirty="0">
                <a:solidFill>
                  <a:schemeClr val="tx2"/>
                </a:solidFill>
              </a:rPr>
              <a:t>Minor Program: AI Systems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Objective &amp; Focus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69D3B343-5D07-A5DC-CC48-11A141EB4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6227352"/>
              </p:ext>
            </p:extLst>
          </p:nvPr>
        </p:nvGraphicFramePr>
        <p:xfrm>
          <a:off x="571350" y="2470244"/>
          <a:ext cx="400064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A diagram of a plant growing&#10;&#10;AI-generated content may be incorrect.">
            <a:extLst>
              <a:ext uri="{FF2B5EF4-FFF2-40B4-BE49-F238E27FC236}">
                <a16:creationId xmlns:a16="http://schemas.microsoft.com/office/drawing/2014/main" id="{75B2BFF9-848E-3309-5D7E-CE1DE987B1F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330" r="24134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794E82-694F-24B0-212C-9D2B0AEF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Background &amp; Problem Statement</a:t>
            </a:r>
            <a:endParaRPr lang="en-US" sz="3500" b="1">
              <a:solidFill>
                <a:srgbClr val="FFFFFF"/>
              </a:solidFill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792785C9-B842-C54A-13E8-C5C5856B4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536099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849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47678-FDD1-1E6C-478A-91CB9E123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Learning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636A2-F8F9-04C2-9D97-2883A2CAA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4370764" cy="376983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Technical Goals: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Integrate AI with IoT for real-time monitoring.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Build predictive analytics for water-quality forecasting.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Design a scalable system architecture.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Personal Goals: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 dirty="0"/>
              <a:t>Strengthen skills in Python, AI frameworks, and architecture design.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Improve project management and communication.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Bridge software engineering and sustainability applications.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5" name="Picture 4" descr="Hexagon network on a blue background">
            <a:extLst>
              <a:ext uri="{FF2B5EF4-FFF2-40B4-BE49-F238E27FC236}">
                <a16:creationId xmlns:a16="http://schemas.microsoft.com/office/drawing/2014/main" id="{AB365115-458D-7249-1862-D96E884026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88" r="53566" b="-1"/>
          <a:stretch>
            <a:fillRect/>
          </a:stretch>
        </p:blipFill>
        <p:spPr>
          <a:xfrm>
            <a:off x="5143347" y="0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876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5EEFF-4A01-9A67-89E2-74B83093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dirty="0">
                <a:solidFill>
                  <a:srgbClr val="FFFFFF"/>
                </a:solidFill>
              </a:rPr>
              <a:t>Current Working 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4D44AB-2F37-59F9-44BE-7DB30004D0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Conducting literature review on AI in hydroponics and IoT applications.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Identified critical water parameters: EC, pH, temperature, oxygen.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700" dirty="0">
                <a:latin typeface="+mj-lt"/>
              </a:rPr>
              <a:t> Identify potential sensors for the implementation from the supplier list. </a:t>
            </a: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Explored open-source frameworks: TensorFlow Lite, scikit-learn, Edge Impulse.</a:t>
            </a:r>
          </a:p>
        </p:txBody>
      </p:sp>
    </p:spTree>
    <p:extLst>
      <p:ext uri="{BB962C8B-B14F-4D97-AF65-F5344CB8AC3E}">
        <p14:creationId xmlns:p14="http://schemas.microsoft.com/office/powerpoint/2010/main" val="667154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774</TotalTime>
  <Words>254</Words>
  <Application>Microsoft Macintosh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AI Systems – Individual Study Optimizing Hydroponic Farming with AI &amp; IoT</vt:lpstr>
      <vt:lpstr>Objective &amp; Focus</vt:lpstr>
      <vt:lpstr>Background &amp; Problem Statement</vt:lpstr>
      <vt:lpstr>Learning Goals</vt:lpstr>
      <vt:lpstr>Current Working 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Cooper,Lindsay L.L.</cp:lastModifiedBy>
  <cp:revision>4</cp:revision>
  <dcterms:created xsi:type="dcterms:W3CDTF">2013-01-27T09:14:16Z</dcterms:created>
  <dcterms:modified xsi:type="dcterms:W3CDTF">2026-01-16T23:21:36Z</dcterms:modified>
  <cp:category/>
</cp:coreProperties>
</file>